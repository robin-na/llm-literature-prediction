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392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1024128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6324F"/>
                </a:solidFill>
                <a:latin typeface="Aptos Display"/>
              </a:rPr>
              <a:t>LLM Prediction Of Treatment Effects:
Elicitation, Augmentation, And Model Dependence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606040"/>
            <a:ext cx="9875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1F2933"/>
                </a:solidFill>
                <a:latin typeface="Aptos"/>
              </a:rPr>
              <a:t>Validation and learning-wave results, benchmarked against elastic net and a control-equals-treatment null.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703319"/>
            <a:ext cx="5413248" cy="2066859"/>
          </a:xfrm>
          <a:prstGeom prst="roundRect">
            <a:avLst/>
          </a:prstGeom>
          <a:solidFill>
            <a:srgbClr val="FDFAF5"/>
          </a:solidFill>
          <a:ln>
            <a:solidFill>
              <a:srgbClr val="EB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3703320"/>
            <a:ext cx="109728" cy="169164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3849624"/>
            <a:ext cx="5212080" cy="190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F2933"/>
                </a:solidFill>
                <a:latin typeface="Aptos"/>
              </a:defRPr>
            </a:pPr>
            <a:r>
              <a:rPr dirty="0"/>
              <a:t>Baseline GPT-4.1 is stronger than many augmentation variants on validation.</a:t>
            </a:r>
          </a:p>
          <a:p>
            <a:pPr>
              <a:spcAft>
                <a:spcPts val="500"/>
              </a:spcAft>
              <a:defRPr sz="1500">
                <a:solidFill>
                  <a:srgbClr val="1F2933"/>
                </a:solidFill>
                <a:latin typeface="Aptos"/>
              </a:defRPr>
            </a:pPr>
            <a:r>
              <a:rPr b="1" dirty="0"/>
              <a:t>Reasoning</a:t>
            </a:r>
            <a:r>
              <a:rPr dirty="0"/>
              <a:t> helps more reliably than most augmentation tweaks.</a:t>
            </a:r>
          </a:p>
          <a:p>
            <a:pPr>
              <a:spcAft>
                <a:spcPts val="500"/>
              </a:spcAft>
              <a:defRPr sz="1500">
                <a:solidFill>
                  <a:srgbClr val="1F2933"/>
                </a:solidFill>
                <a:latin typeface="Aptos"/>
              </a:defRPr>
            </a:pPr>
            <a:r>
              <a:rPr dirty="0"/>
              <a:t>Augmentation changes implied CONFIG-level beliefs, not just error metrics.</a:t>
            </a:r>
          </a:p>
          <a:p>
            <a:pPr>
              <a:spcAft>
                <a:spcPts val="500"/>
              </a:spcAft>
              <a:defRPr sz="1500">
                <a:solidFill>
                  <a:srgbClr val="1F2933"/>
                </a:solidFill>
                <a:latin typeface="Aptos"/>
              </a:defRPr>
            </a:pPr>
            <a:r>
              <a:rPr dirty="0"/>
              <a:t>GPT-4.1-nano does not preserve the main pattern cleanly.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9E8BDE-479D-4CB3-3D45-74BF9592F9BC}"/>
              </a:ext>
            </a:extLst>
          </p:cNvPr>
          <p:cNvSpPr txBox="1"/>
          <p:nvPr/>
        </p:nvSpPr>
        <p:spPr>
          <a:xfrm>
            <a:off x="6371792" y="3982368"/>
            <a:ext cx="5212080" cy="196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F2933"/>
                </a:solidFill>
                <a:latin typeface="Aptos"/>
              </a:defRPr>
            </a:pPr>
            <a:r>
              <a:rPr dirty="0"/>
              <a:t>Baseline</a:t>
            </a:r>
            <a:r>
              <a:rPr lang="en-US" dirty="0"/>
              <a:t>:</a:t>
            </a:r>
          </a:p>
          <a:p>
            <a:pPr marL="285750" indent="-285750">
              <a:spcAft>
                <a:spcPts val="500"/>
              </a:spcAft>
              <a:buFontTx/>
              <a:buChar char="-"/>
              <a:defRPr sz="1500">
                <a:solidFill>
                  <a:srgbClr val="1F2933"/>
                </a:solidFill>
                <a:latin typeface="Aptos"/>
              </a:defRPr>
            </a:pPr>
            <a:r>
              <a:rPr lang="en-US" dirty="0"/>
              <a:t>GPT-4.1</a:t>
            </a:r>
          </a:p>
          <a:p>
            <a:pPr marL="285750" indent="-285750">
              <a:spcAft>
                <a:spcPts val="500"/>
              </a:spcAft>
              <a:buFontTx/>
              <a:buChar char="-"/>
              <a:defRPr sz="1500">
                <a:solidFill>
                  <a:srgbClr val="1F2933"/>
                </a:solidFill>
                <a:latin typeface="Aptos"/>
              </a:defRPr>
            </a:pPr>
            <a:r>
              <a:rPr lang="en-US" dirty="0"/>
              <a:t>no augmentation (only information about the 14 design parameters + efficiency value in the control game) </a:t>
            </a:r>
          </a:p>
          <a:p>
            <a:pPr marL="285750" indent="-285750">
              <a:spcAft>
                <a:spcPts val="500"/>
              </a:spcAft>
              <a:buFontTx/>
              <a:buChar char="-"/>
              <a:defRPr sz="1500">
                <a:solidFill>
                  <a:srgbClr val="1F2933"/>
                </a:solidFill>
                <a:latin typeface="Aptos"/>
              </a:defRPr>
            </a:pPr>
            <a:r>
              <a:rPr lang="en-US" dirty="0"/>
              <a:t>eliciting one prediction at a time</a:t>
            </a:r>
          </a:p>
          <a:p>
            <a:pPr marL="285750" indent="-285750">
              <a:spcAft>
                <a:spcPts val="500"/>
              </a:spcAft>
              <a:buFontTx/>
              <a:buChar char="-"/>
              <a:defRPr sz="1500">
                <a:solidFill>
                  <a:srgbClr val="1F2933"/>
                </a:solidFill>
                <a:latin typeface="Aptos"/>
              </a:defRPr>
            </a:pPr>
            <a:r>
              <a:rPr lang="en-US" dirty="0"/>
              <a:t>directly outputting an integer prediction without “reasoning” process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324F"/>
                </a:solidFill>
                <a:latin typeface="Aptos Display"/>
              </a:rPr>
              <a:t>Benchmark Before Augmentation (Validation Wave)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11018520" cy="5486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A6672"/>
                </a:solidFill>
                <a:latin typeface="Aptos"/>
              </a:rPr>
              <a:t>Baseline-only comparison across elicitation modes; elastic net and the noise ceiling are kept in the slide text.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15568"/>
            <a:ext cx="76809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alidation_benchmark_mirro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34440"/>
            <a:ext cx="7406640" cy="4704862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261872"/>
            <a:ext cx="3200400" cy="4297680"/>
          </a:xfrm>
          <a:prstGeom prst="roundRect">
            <a:avLst/>
          </a:prstGeom>
          <a:solidFill>
            <a:srgbClr val="FDFAF5"/>
          </a:solidFill>
          <a:ln>
            <a:solidFill>
              <a:srgbClr val="EB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75320" y="1261872"/>
            <a:ext cx="109728" cy="429768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76488" y="1399031"/>
            <a:ext cx="290779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F2933"/>
                </a:solidFill>
                <a:latin typeface="Aptos"/>
              </a:defRPr>
            </a:pPr>
            <a:r>
              <a:t>GPT-4.1 baseline_reasoning is the strongest GPT-4.1 baseline on validation: RMSE 5.70, correlation 0.627, directional accuracy 0.70, R² 0.362.</a:t>
            </a:r>
          </a:p>
          <a:p>
            <a:pPr>
              <a:spcAft>
                <a:spcPts val="500"/>
              </a:spcAft>
              <a:defRPr sz="1500">
                <a:solidFill>
                  <a:srgbClr val="1F2933"/>
                </a:solidFill>
                <a:latin typeface="Aptos"/>
              </a:defRPr>
            </a:pPr>
            <a:r>
              <a:t>GPT-4.1-nano is weaker across all four metrics on validation; nano baseline_reasoning drops to R² -0.994.</a:t>
            </a:r>
          </a:p>
          <a:p>
            <a:pPr>
              <a:spcAft>
                <a:spcPts val="500"/>
              </a:spcAft>
              <a:defRPr sz="1500">
                <a:solidFill>
                  <a:srgbClr val="1F2933"/>
                </a:solidFill>
                <a:latin typeface="Aptos"/>
              </a:defRPr>
            </a:pPr>
            <a:r>
              <a:t>External benchmark: elastic net reaches RMSE 4.52, correlation 0.773, directional accuracy 0.75, R² 0.599; the validation noise ceiling is R² 0.641.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6144768"/>
            <a:ext cx="10972800" cy="384048"/>
          </a:xfrm>
          <a:prstGeom prst="round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208776"/>
            <a:ext cx="10698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Validation is the cleanest place to show that elastic net still outperforms the non-augmented LLM baselines.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5577840"/>
            <a:ext cx="3246120" cy="493776"/>
          </a:xfrm>
          <a:prstGeom prst="roundRect">
            <a:avLst/>
          </a:prstGeom>
          <a:solidFill>
            <a:srgbClr val="F5F8FC"/>
          </a:solidFill>
          <a:ln>
            <a:solidFill>
              <a:srgbClr val="BECC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5632704"/>
            <a:ext cx="3017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F2933"/>
                </a:solidFill>
                <a:latin typeface="Aptos"/>
              </a:rPr>
              <a:t>External benchmarks: E-net RMSE 4.52, corr 0.773, DA 0.75, R² 0.599; noise ceiling R² 0.641.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324F"/>
                </a:solidFill>
                <a:latin typeface="Aptos Display"/>
              </a:rPr>
              <a:t>Benchmark Before Augmentation (Learning Wave)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11018520" cy="5486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A6672"/>
                </a:solidFill>
                <a:latin typeface="Aptos"/>
              </a:rPr>
              <a:t>Baseline-only comparison on the learning wave, using the same four metrics and the same layout as validation.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15568"/>
            <a:ext cx="7680960" cy="4892040"/>
          </a:xfrm>
          <a:prstGeom prst="round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7406640" cy="4706459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261872"/>
            <a:ext cx="3200400" cy="4297680"/>
          </a:xfrm>
          <a:prstGeom prst="roundRect">
            <a:avLst/>
          </a:prstGeom>
          <a:solidFill>
            <a:srgbClr val="FDFAF5"/>
          </a:solidFill>
          <a:ln>
            <a:solidFill>
              <a:srgbClr val="EB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75320" y="1261872"/>
            <a:ext cx="109728" cy="429768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76488" y="1399031"/>
            <a:ext cx="290779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F2933"/>
                </a:solidFill>
                <a:latin typeface="Aptos"/>
              </a:defRPr>
            </a:pPr>
            <a:r>
              <a:t>GPT-4.1 is fairly flat across elicitation modes on learning; baseline_reasoning is best on RMSE and R².</a:t>
            </a:r>
          </a:p>
          <a:p>
            <a:pPr>
              <a:spcAft>
                <a:spcPts val="500"/>
              </a:spcAft>
              <a:defRPr sz="1500">
                <a:solidFill>
                  <a:srgbClr val="1F2933"/>
                </a:solidFill>
                <a:latin typeface="Aptos"/>
              </a:defRPr>
            </a:pPr>
            <a:r>
              <a:t>GPT-4.1-nano behaves differently: joint_reasoning is the strongest nano baseline on RMSE, R², and directional accuracy.</a:t>
            </a:r>
          </a:p>
          <a:p>
            <a:pPr>
              <a:spcAft>
                <a:spcPts val="500"/>
              </a:spcAft>
              <a:defRPr sz="1500">
                <a:solidFill>
                  <a:srgbClr val="1F2933"/>
                </a:solidFill>
                <a:latin typeface="Aptos"/>
              </a:defRPr>
            </a:pPr>
            <a:r>
              <a:t>Unlike validation, the learning-wave ordering is not dominated by a single clear baseline family across both models.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6144768"/>
            <a:ext cx="10972800" cy="384048"/>
          </a:xfrm>
          <a:prstGeom prst="round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6208776"/>
            <a:ext cx="10698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The learning wave changes the baseline ordering, especially for GPT-4.1-nano.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324F"/>
                </a:solidFill>
                <a:latin typeface="Aptos Display"/>
              </a:rPr>
              <a:t>Main Validation Result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11018520" cy="5486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A6672"/>
                </a:solidFill>
                <a:latin typeface="Aptos"/>
              </a:rPr>
              <a:t>This summary includes the larger report/RAG/abstract search space plus the newer positive-case prompt variants.</a:t>
            </a:r>
          </a:p>
        </p:txBody>
      </p:sp>
      <p:pic>
        <p:nvPicPr>
          <p:cNvPr id="6" name="Picture 5" descr="validation_augmentation_search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207008"/>
            <a:ext cx="7315200" cy="376269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234440"/>
            <a:ext cx="3246120" cy="4480560"/>
          </a:xfrm>
          <a:prstGeom prst="roundRect">
            <a:avLst/>
          </a:prstGeom>
          <a:solidFill>
            <a:srgbClr val="FDFAF5"/>
          </a:solidFill>
          <a:ln>
            <a:solidFill>
              <a:srgbClr val="EB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75320" y="1234440"/>
            <a:ext cx="109728" cy="448056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76488" y="1380744"/>
            <a:ext cx="2971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F2933"/>
                </a:solidFill>
                <a:latin typeface="Aptos"/>
              </a:defRPr>
            </a:pPr>
            <a:r>
              <a:t>Report filters: median ΔRMSE +0.46, only 20% of variants beat baseline on point estimate.</a:t>
            </a:r>
          </a:p>
          <a:p>
            <a:pPr>
              <a:spcAft>
                <a:spcPts val="500"/>
              </a:spcAft>
              <a:defRPr sz="1500">
                <a:solidFill>
                  <a:srgbClr val="1F2933"/>
                </a:solidFill>
                <a:latin typeface="Aptos"/>
              </a:defRPr>
            </a:pPr>
            <a:r>
              <a:t>RAG filters: median ΔRMSE +0.24; Abstract filters: median +0.04.</a:t>
            </a:r>
          </a:p>
          <a:p>
            <a:pPr>
              <a:spcAft>
                <a:spcPts val="500"/>
              </a:spcAft>
              <a:defRPr sz="1500">
                <a:solidFill>
                  <a:srgbClr val="1F2933"/>
                </a:solidFill>
                <a:latin typeface="Aptos"/>
              </a:defRPr>
            </a:pPr>
            <a:r>
              <a:t>Positive-case prompt variants are worse on average: median ΔRMSE +0.89 and median ΔR² -0.25.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6144768"/>
            <a:ext cx="10972800" cy="384048"/>
          </a:xfrm>
          <a:prstGeom prst="round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6208776"/>
            <a:ext cx="10698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Typical validation augmentation variants do not improve on the canonical GPT-4.1 baseline.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324F"/>
                </a:solidFill>
                <a:latin typeface="Aptos Display"/>
              </a:rPr>
              <a:t>Validation: Correlation And Directional Accuracy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11018520" cy="5486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A6672"/>
                </a:solidFill>
                <a:latin typeface="Aptos"/>
              </a:rPr>
              <a:t>A few augmentation pockets improve correlation, but directional-accuracy gains are rare.</a:t>
            </a:r>
          </a:p>
        </p:txBody>
      </p:sp>
      <p:pic>
        <p:nvPicPr>
          <p:cNvPr id="6" name="Picture 5" descr="validation_augmentation_search_summary_corr_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207008"/>
            <a:ext cx="7315200" cy="376269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234440"/>
            <a:ext cx="3246120" cy="4480560"/>
          </a:xfrm>
          <a:prstGeom prst="roundRect">
            <a:avLst/>
          </a:prstGeom>
          <a:solidFill>
            <a:srgbClr val="FDFAF5"/>
          </a:solidFill>
          <a:ln>
            <a:solidFill>
              <a:srgbClr val="EB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75320" y="1234440"/>
            <a:ext cx="109728" cy="448056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76488" y="1380744"/>
            <a:ext cx="2971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F2933"/>
                </a:solidFill>
                <a:latin typeface="Aptos"/>
              </a:defRPr>
            </a:pPr>
            <a:r>
              <a:t>Report, RAG, and abstract filter families all have negative median Δcorrelation on validation.</a:t>
            </a:r>
          </a:p>
          <a:p>
            <a:pPr>
              <a:spcAft>
                <a:spcPts val="500"/>
              </a:spcAft>
              <a:defRPr sz="1500">
                <a:solidFill>
                  <a:srgbClr val="1F2933"/>
                </a:solidFill>
                <a:latin typeface="Aptos"/>
              </a:defRPr>
            </a:pPr>
            <a:r>
              <a:t>Positive-case prompt variants are the one family with positive median Δcorrelation (+0.027), but their median Δdirectional accuracy is -0.10.</a:t>
            </a:r>
          </a:p>
          <a:p>
            <a:pPr>
              <a:spcAft>
                <a:spcPts val="500"/>
              </a:spcAft>
              <a:defRPr sz="1500">
                <a:solidFill>
                  <a:srgbClr val="1F2933"/>
                </a:solidFill>
                <a:latin typeface="Aptos"/>
              </a:defRPr>
            </a:pPr>
            <a:r>
              <a:t>Directional-accuracy gains are sparse across the whole validation search space.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6144768"/>
            <a:ext cx="10972800" cy="384048"/>
          </a:xfrm>
          <a:prstGeom prst="round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6208776"/>
            <a:ext cx="10698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On validation, any upside is much easier to find in correlation than in directional accuracy.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324F"/>
                </a:solidFill>
                <a:latin typeface="Aptos Display"/>
              </a:rPr>
              <a:t>Where Augmentation Helps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11018520" cy="5486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A6672"/>
                </a:solidFill>
                <a:latin typeface="Aptos"/>
              </a:rPr>
              <a:t>Grouped by input family and elicitation mode across validation and learning waves.</a:t>
            </a:r>
          </a:p>
        </p:txBody>
      </p:sp>
      <p:pic>
        <p:nvPicPr>
          <p:cNvPr id="6" name="Picture 5" descr="crosswave_augmentation_performanc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207008"/>
            <a:ext cx="7315200" cy="335869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234440"/>
            <a:ext cx="3246120" cy="4480560"/>
          </a:xfrm>
          <a:prstGeom prst="roundRect">
            <a:avLst/>
          </a:prstGeom>
          <a:solidFill>
            <a:srgbClr val="FDFAF5"/>
          </a:solidFill>
          <a:ln>
            <a:solidFill>
              <a:srgbClr val="EB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75320" y="1234440"/>
            <a:ext cx="109728" cy="448056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76488" y="1380744"/>
            <a:ext cx="2971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F2933"/>
                </a:solidFill>
                <a:latin typeface="Aptos"/>
              </a:defRPr>
            </a:pPr>
            <a:r>
              <a:t>Validation: gains are limited and mostly concentrated in correlation rather than RMSE/R².</a:t>
            </a:r>
          </a:p>
          <a:p>
            <a:pPr>
              <a:spcAft>
                <a:spcPts val="500"/>
              </a:spcAft>
              <a:defRPr sz="1500">
                <a:solidFill>
                  <a:srgbClr val="1F2933"/>
                </a:solidFill>
                <a:latin typeface="Aptos"/>
              </a:defRPr>
            </a:pPr>
            <a:r>
              <a:t>Learning: both + joint is the strongest GPT-4.1 region; paper_only can also help.</a:t>
            </a:r>
          </a:p>
          <a:p>
            <a:pPr>
              <a:spcAft>
                <a:spcPts val="500"/>
              </a:spcAft>
              <a:defRPr sz="1500">
                <a:solidFill>
                  <a:srgbClr val="1F2933"/>
                </a:solidFill>
                <a:latin typeface="Aptos"/>
              </a:defRPr>
            </a:pPr>
            <a:r>
              <a:t>Data_only is consistently weak across waves and metrics.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6144768"/>
            <a:ext cx="10972800" cy="384048"/>
          </a:xfrm>
          <a:prstGeom prst="round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6208776"/>
            <a:ext cx="10698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Augmentation helps only in selective regimes, not as a general recipe.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324F"/>
                </a:solidFill>
                <a:latin typeface="Aptos Display"/>
              </a:rPr>
              <a:t>Augmentation Changes The Model's Priors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11018520" cy="5486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A6672"/>
                </a:solidFill>
                <a:latin typeface="Aptos"/>
              </a:rPr>
              <a:t>Cell values show how augmentation changes the predicted treatment-effect contrast associated with each binary CONFIG.</a:t>
            </a:r>
          </a:p>
        </p:txBody>
      </p:sp>
      <p:pic>
        <p:nvPicPr>
          <p:cNvPr id="6" name="Picture 5" descr="crosswave_config_augmentation_binary_delta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207008"/>
            <a:ext cx="7315200" cy="502147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275320" y="1234440"/>
            <a:ext cx="3246120" cy="4480560"/>
          </a:xfrm>
          <a:prstGeom prst="roundRect">
            <a:avLst/>
          </a:prstGeom>
          <a:solidFill>
            <a:srgbClr val="FDFAF5"/>
          </a:solidFill>
          <a:ln>
            <a:solidFill>
              <a:srgbClr val="EB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275320" y="1234440"/>
            <a:ext cx="109728" cy="448056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476488" y="1380744"/>
            <a:ext cx="29718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F2933"/>
                </a:solidFill>
                <a:latin typeface="Aptos"/>
              </a:defRPr>
            </a:pPr>
            <a:r>
              <a:t>Changes are substantive, not cosmetic: augmentation shifts the model's response to chat, rewardExists, and showOtherSummaries.</a:t>
            </a:r>
          </a:p>
          <a:p>
            <a:pPr>
              <a:spcAft>
                <a:spcPts val="500"/>
              </a:spcAft>
              <a:defRPr sz="1500">
                <a:solidFill>
                  <a:srgbClr val="1F2933"/>
                </a:solidFill>
                <a:latin typeface="Aptos"/>
              </a:defRPr>
            </a:pPr>
            <a:r>
              <a:t>These shifts depend on both input family and elicitation mode.</a:t>
            </a:r>
          </a:p>
          <a:p>
            <a:pPr>
              <a:spcAft>
                <a:spcPts val="500"/>
              </a:spcAft>
              <a:defRPr sz="1500">
                <a:solidFill>
                  <a:srgbClr val="1F2933"/>
                </a:solidFill>
                <a:latin typeface="Aptos"/>
              </a:defRPr>
            </a:pPr>
            <a:r>
              <a:t>Performance differences and belief changes move together; augmentation is changing what the model keys 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324F"/>
                </a:solidFill>
                <a:latin typeface="Aptos Display"/>
              </a:rPr>
              <a:t>Nano Is Not A Drop-In Substitute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11018520" cy="5486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A6672"/>
                </a:solidFill>
                <a:latin typeface="Aptos"/>
              </a:rPr>
              <a:t>The same analysis pipeline on GPT-4.1-nano produces a materially different pattern.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115568"/>
            <a:ext cx="54864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99632" y="1115568"/>
            <a:ext cx="548640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crosswave_augmentation_performanc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5212080" cy="2393067"/>
          </a:xfrm>
          <a:prstGeom prst="rect">
            <a:avLst/>
          </a:prstGeom>
        </p:spPr>
      </p:pic>
      <p:pic>
        <p:nvPicPr>
          <p:cNvPr id="8" name="Picture 7" descr="crosswave_41nano_augmentation_performance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1234440"/>
            <a:ext cx="5212080" cy="239306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024128" y="5742432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F2933"/>
                </a:solidFill>
                <a:latin typeface="Aptos"/>
              </a:defRPr>
            </a:pPr>
            <a:r>
              <a:rPr dirty="0"/>
              <a:t>GPT-4.1 cross-wave search has 0 missing outputs; GPT-4.1-nano has 71 missing outputs, including 50 missing learning cases for </a:t>
            </a:r>
            <a:r>
              <a:rPr dirty="0" err="1"/>
              <a:t>both_refined_joint_reasoning</a:t>
            </a:r>
            <a:r>
              <a:rPr dirty="0"/>
              <a:t>.</a:t>
            </a:r>
          </a:p>
          <a:p>
            <a:pPr>
              <a:spcAft>
                <a:spcPts val="500"/>
              </a:spcAft>
              <a:defRPr sz="1500">
                <a:solidFill>
                  <a:srgbClr val="1F2933"/>
                </a:solidFill>
                <a:latin typeface="Aptos"/>
              </a:defRPr>
            </a:pPr>
            <a:r>
              <a:rPr dirty="0"/>
              <a:t>Some coarse trends survive, especially </a:t>
            </a:r>
            <a:r>
              <a:rPr dirty="0" err="1"/>
              <a:t>data_only</a:t>
            </a:r>
            <a:r>
              <a:rPr dirty="0"/>
              <a:t> being weak.</a:t>
            </a:r>
          </a:p>
          <a:p>
            <a:pPr>
              <a:spcAft>
                <a:spcPts val="500"/>
              </a:spcAft>
              <a:defRPr sz="1500">
                <a:solidFill>
                  <a:srgbClr val="1F2933"/>
                </a:solidFill>
                <a:latin typeface="Aptos"/>
              </a:defRPr>
            </a:pPr>
            <a:r>
              <a:rPr dirty="0"/>
              <a:t>But the winning regions change and several learning-wave gains disappear under nano.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75430" y="6208776"/>
            <a:ext cx="6502100" cy="2616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Aptos"/>
              </a:rPr>
              <a:t>Model </a:t>
            </a:r>
            <a:r>
              <a:rPr sz="1100" b="1" dirty="0" err="1">
                <a:solidFill>
                  <a:srgbClr val="FFFFFF"/>
                </a:solidFill>
                <a:latin typeface="Aptos"/>
              </a:rPr>
              <a:t>coice</a:t>
            </a:r>
            <a:r>
              <a:rPr sz="1100" b="1" dirty="0">
                <a:solidFill>
                  <a:srgbClr val="FFFFFF"/>
                </a:solidFill>
                <a:latin typeface="Aptos"/>
              </a:rPr>
              <a:t> changes the story; nano should be treated as a separate regime, not a cheaper replica.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324F"/>
                </a:solidFill>
                <a:latin typeface="Aptos Display"/>
              </a:rPr>
              <a:t>Takeaways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11018520" cy="5486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1417320"/>
            <a:ext cx="109728" cy="44805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1563624"/>
            <a:ext cx="102412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F2933"/>
                </a:solidFill>
                <a:latin typeface="Aptos"/>
              </a:defRPr>
            </a:pPr>
            <a:r>
              <a:t>On validation, the canonical GPT-4.1 baseline remains hard to beat even after a large augmentation search over report, RAG, abstract, and prompt variants.</a:t>
            </a:r>
          </a:p>
          <a:p>
            <a:pPr>
              <a:spcAft>
                <a:spcPts val="500"/>
              </a:spcAft>
              <a:defRPr sz="1500">
                <a:solidFill>
                  <a:srgbClr val="1F2933"/>
                </a:solidFill>
                <a:latin typeface="Aptos"/>
              </a:defRPr>
            </a:pPr>
            <a:r>
              <a:t>Within unaugmented prompting, GPT-4.1 baseline_reasoning is the strongest simple setup; elastic net still outperforms the LLM baselines on R^2.</a:t>
            </a:r>
          </a:p>
          <a:p>
            <a:pPr>
              <a:spcAft>
                <a:spcPts val="500"/>
              </a:spcAft>
              <a:defRPr sz="1500">
                <a:solidFill>
                  <a:srgbClr val="1F2933"/>
                </a:solidFill>
                <a:latin typeface="Aptos"/>
              </a:defRPr>
            </a:pPr>
            <a:r>
              <a:t>Augmentation is only useful in selective regimes, mainly with both/paper_only inputs; data_only is consistently weak.</a:t>
            </a:r>
          </a:p>
          <a:p>
            <a:pPr>
              <a:spcAft>
                <a:spcPts val="500"/>
              </a:spcAft>
              <a:defRPr sz="1500">
                <a:solidFill>
                  <a:srgbClr val="1F2933"/>
                </a:solidFill>
                <a:latin typeface="Aptos"/>
              </a:defRPr>
            </a:pPr>
            <a:r>
              <a:t>Prompting and augmentation change the model's implied causal beliefs about CONFIGs, especially chat, rewardExists, and showOtherSummaries.</a:t>
            </a:r>
          </a:p>
          <a:p>
            <a:pPr>
              <a:spcAft>
                <a:spcPts val="500"/>
              </a:spcAft>
              <a:defRPr sz="1500">
                <a:solidFill>
                  <a:srgbClr val="1F2933"/>
                </a:solidFill>
                <a:latin typeface="Aptos"/>
              </a:defRPr>
            </a:pPr>
            <a:r>
              <a:t>GPT-4.1-nano should be treated as a separate regime: weaker validation baselines, 71 missing outputs, and materially different augmentation patterns.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6144768"/>
            <a:ext cx="10972800" cy="384048"/>
          </a:xfrm>
          <a:prstGeom prst="roundRect">
            <a:avLst/>
          </a:prstGeom>
          <a:solidFill>
            <a:srgbClr val="1632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6208776"/>
            <a:ext cx="10698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Family-level patterns are more trustworthy than exact winner rankings.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292608"/>
            <a:ext cx="108813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6324F"/>
                </a:solidFill>
                <a:latin typeface="Aptos Display"/>
              </a:rPr>
              <a:t>Appendix: Raw CONFIG Tendency Maps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96112"/>
            <a:ext cx="11018520" cy="54864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A6672"/>
                </a:solidFill>
                <a:latin typeface="Aptos"/>
              </a:rPr>
              <a:t>These show the model's implied treatment-effect tendencies before differencing against the matched no-input baseline.</a:t>
            </a:r>
          </a:p>
        </p:txBody>
      </p:sp>
      <p:pic>
        <p:nvPicPr>
          <p:cNvPr id="7" name="Picture 6" descr="crosswave_config_tendency_binary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5212080" cy="3577798"/>
          </a:xfrm>
          <a:prstGeom prst="rect">
            <a:avLst/>
          </a:prstGeom>
        </p:spPr>
      </p:pic>
      <p:pic>
        <p:nvPicPr>
          <p:cNvPr id="8" name="Picture 7" descr="crosswave_config_tendency_continuous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2" y="1234440"/>
            <a:ext cx="5212080" cy="357898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2960" y="5596128"/>
            <a:ext cx="10789920" cy="1109472"/>
          </a:xfrm>
          <a:prstGeom prst="roundRect">
            <a:avLst/>
          </a:prstGeom>
          <a:solidFill>
            <a:srgbClr val="FDFAF5"/>
          </a:solidFill>
          <a:ln>
            <a:solidFill>
              <a:srgbClr val="EBDD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" y="5596128"/>
            <a:ext cx="109728" cy="86868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4128" y="5742432"/>
            <a:ext cx="10515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F2933"/>
                </a:solidFill>
                <a:latin typeface="Aptos"/>
              </a:defRPr>
            </a:pPr>
            <a:r>
              <a:rPr dirty="0"/>
              <a:t>Binary features summarize sign and magnitude shifts for yes/no CONFIGs.</a:t>
            </a:r>
          </a:p>
          <a:p>
            <a:pPr>
              <a:spcAft>
                <a:spcPts val="500"/>
              </a:spcAft>
              <a:defRPr sz="1500">
                <a:solidFill>
                  <a:srgbClr val="1F2933"/>
                </a:solidFill>
                <a:latin typeface="Aptos"/>
              </a:defRPr>
            </a:pPr>
            <a:r>
              <a:rPr dirty="0"/>
              <a:t>Continuous features summarize correlations between predicted treatment effect and CONFIG intensity.</a:t>
            </a:r>
          </a:p>
          <a:p>
            <a:pPr>
              <a:spcAft>
                <a:spcPts val="500"/>
              </a:spcAft>
              <a:defRPr sz="1500">
                <a:solidFill>
                  <a:srgbClr val="1F2933"/>
                </a:solidFill>
                <a:latin typeface="Aptos"/>
              </a:defRPr>
            </a:pPr>
            <a:r>
              <a:rPr dirty="0"/>
              <a:t>The augmentation-delta slide in the main deck is the cleaner causal comparison; these are the raw tendency maps behind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878</Words>
  <Application>Microsoft Macintosh PowerPoint</Application>
  <PresentationFormat>Widescreen</PresentationFormat>
  <Paragraphs>64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Robin Na</cp:lastModifiedBy>
  <cp:revision>3</cp:revision>
  <dcterms:created xsi:type="dcterms:W3CDTF">2013-01-27T09:14:16Z</dcterms:created>
  <dcterms:modified xsi:type="dcterms:W3CDTF">2026-03-11T20:19:58Z</dcterms:modified>
  <cp:category/>
</cp:coreProperties>
</file>